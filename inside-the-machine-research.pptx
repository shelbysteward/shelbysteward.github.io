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Estimated Total Training Compute (FLOPs, log scale)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Compute (FLOPs)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GPT-3
(2020)</c:v>
                </c:pt>
                <c:pt idx="1">
                  <c:v>LLaMA 2 70B
(2023)</c:v>
                </c:pt>
                <c:pt idx="2">
                  <c:v>GPT-4
(2023)</c:v>
                </c:pt>
                <c:pt idx="3">
                  <c:v>LLaMA 3.1 405B
(2024)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3.0999999999999997E+23</c:v>
                </c:pt>
                <c:pt idx="1">
                  <c:v>9.9999999999999998E+23</c:v>
                </c:pt>
                <c:pt idx="2">
                  <c:v>2.0999999999999999E+25</c:v>
                </c:pt>
                <c:pt idx="3">
                  <c:v>3.8E+25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C2-4955-AF7E-64EED5F519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in val="9.9999999999999992E+22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Calibri"/>
              </a:rPr>
              <a:t>Cumulative Pretraining GPU-Hours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GPU-Hours (millions)</c:v>
                </c:pt>
              </c:strCache>
            </c:strRef>
          </c:tx>
          <c:spPr>
            <a:solidFill>
              <a:srgbClr val="4FA9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LLaMA 2
(2023)</c:v>
                </c:pt>
                <c:pt idx="1">
                  <c:v>LLaMA 4
Scout+Maverick
(2025)</c:v>
                </c:pt>
                <c:pt idx="2">
                  <c:v>LLaMA 3.1
(2024)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</c:v>
                </c:pt>
                <c:pt idx="1">
                  <c:v>7.38</c:v>
                </c:pt>
                <c:pt idx="2">
                  <c:v>39.299999999999997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9D-4105-90A7-BB82E7D2EF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55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Est. Training Cost ($M)</c:v>
                </c:pt>
              </c:strCache>
            </c:strRef>
          </c:tx>
          <c:spPr>
            <a:ln w="38100" cap="flat">
              <a:solidFill>
                <a:srgbClr val="F2A93B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dLbls>
            <c:numFmt formatCode="&quot;$&quot;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2020
GPT-3</c:v>
                </c:pt>
                <c:pt idx="1">
                  <c:v>2023
GPT-4</c:v>
                </c:pt>
                <c:pt idx="2">
                  <c:v>2023
Gemini Ultra</c:v>
                </c:pt>
                <c:pt idx="3">
                  <c:v>2024
Claude 3.5
(low est.)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4.5999999999999996</c:v>
                </c:pt>
                <c:pt idx="1">
                  <c:v>100</c:v>
                </c:pt>
                <c:pt idx="2">
                  <c:v>191</c:v>
                </c:pt>
                <c:pt idx="3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30-4176-966C-7360AF6774B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9406B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9406B"/>
              </a:solidFill>
              <a:prstDash val="solid"/>
              <a:round/>
            </a:ln>
          </c:spPr>
        </c:majorGridlines>
        <c:numFmt formatCode="&quot;$&quot;0&quot;M&quot;" sourceLinked="0"/>
        <c:majorTickMark val="out"/>
        <c:minorTickMark val="none"/>
        <c:tickLblPos val="nextTo"/>
        <c:spPr>
          <a:ln w="12700" cap="flat">
            <a:solidFill>
              <a:srgbClr val="39406B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985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731520"/>
            <a:ext cx="164592" cy="164592"/>
          </a:xfrm>
          <a:prstGeom prst="ellipse">
            <a:avLst/>
          </a:prstGeom>
          <a:solidFill>
            <a:srgbClr val="F2A93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1188720"/>
            <a:ext cx="91440" cy="91440"/>
          </a:xfrm>
          <a:prstGeom prst="ellipse">
            <a:avLst/>
          </a:prstGeom>
          <a:solidFill>
            <a:srgbClr val="F2A93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75520" y="1371600"/>
            <a:ext cx="109728" cy="109728"/>
          </a:xfrm>
          <a:prstGeom prst="ellipse">
            <a:avLst/>
          </a:prstGeom>
          <a:solidFill>
            <a:srgbClr val="F2A93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55680" y="914400"/>
            <a:ext cx="73152" cy="73152"/>
          </a:xfrm>
          <a:prstGeom prst="ellipse">
            <a:avLst/>
          </a:prstGeom>
          <a:solidFill>
            <a:srgbClr val="F2A93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0" y="5943600"/>
            <a:ext cx="128016" cy="128016"/>
          </a:xfrm>
          <a:prstGeom prst="ellipse">
            <a:avLst/>
          </a:prstGeom>
          <a:solidFill>
            <a:srgbClr val="F2A93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6309360"/>
            <a:ext cx="91440" cy="91440"/>
          </a:xfrm>
          <a:prstGeom prst="ellipse">
            <a:avLst/>
          </a:prstGeom>
          <a:solidFill>
            <a:srgbClr val="F2A93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92640" y="6309360"/>
            <a:ext cx="73152" cy="73152"/>
          </a:xfrm>
          <a:prstGeom prst="ellipse">
            <a:avLst/>
          </a:prstGeom>
          <a:solidFill>
            <a:srgbClr val="F2A93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AN AI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Generative AI:</a:t>
            </a:r>
            <a:endParaRPr lang="en-US" sz="4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Resources, Costs &amp; the Path to Deployment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deployed model — what it actually takes in data, compute, energy, and time, with real figures from GPT-4, Claude, and LLaMA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1280160" cy="0"/>
          </a:xfrm>
          <a:prstGeom prst="line">
            <a:avLst/>
          </a:prstGeom>
          <a:noFill/>
          <a:ln w="381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carry a model from raw data to a live product — each with its own resource demands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63828" y="2011680"/>
            <a:ext cx="94640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3788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ideck/icon_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948" y="169164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8008" y="242316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9448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7736" y="2761488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7736" y="3246120"/>
            <a:ext cx="1472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Scrape, license &amp; assemble text, code, and image corpora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936596" y="1554480"/>
            <a:ext cx="640080" cy="640080"/>
          </a:xfrm>
          <a:prstGeom prst="ellipse">
            <a:avLst/>
          </a:prstGeom>
          <a:solidFill>
            <a:srgbClr val="4FA9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aideck/icon_bro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756" y="1691640"/>
            <a:ext cx="365760" cy="365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10816" y="242316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502256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20544" y="2761488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520544" y="3246120"/>
            <a:ext cx="1472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dedupe, filter for quality &amp; safety; tokenize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829404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aideck/icon_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6564" y="1691640"/>
            <a:ext cx="365760" cy="3657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303624" y="242316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395064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413352" y="2761488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Pretraining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413352" y="3246120"/>
            <a:ext cx="1472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language patterns across trillions of tokens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722212" y="1554480"/>
            <a:ext cx="640080" cy="640080"/>
          </a:xfrm>
          <a:prstGeom prst="ellipse">
            <a:avLst/>
          </a:prstGeom>
          <a:solidFill>
            <a:srgbClr val="4FA9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/home/claude/aideck/icon_slid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9372" y="1691640"/>
            <a:ext cx="365760" cy="36576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196432" y="242316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287872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306160" y="2761488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/ RLHF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306160" y="3246120"/>
            <a:ext cx="1472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outputs to instructions &amp; human preferences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861502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/home/claude/aideck/icon_shiel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2180" y="1691640"/>
            <a:ext cx="365760" cy="36576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089240" y="242316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8180680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8198968" y="2761488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Safety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198968" y="3246120"/>
            <a:ext cx="1472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accuracy, red-team for risk &amp; bias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10507828" y="1554480"/>
            <a:ext cx="640080" cy="640080"/>
          </a:xfrm>
          <a:prstGeom prst="ellipse">
            <a:avLst/>
          </a:prstGeom>
          <a:solidFill>
            <a:srgbClr val="4FA9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/home/claude/aideck/icon_rocke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4988" y="1691640"/>
            <a:ext cx="365760" cy="36576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9982048" y="242316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  <a:effectLst>
            <a:outerShdw blurRad="508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10073488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10091776" y="2761488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0091776" y="3246120"/>
            <a:ext cx="14721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inference &amp; serve to users at scale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548640" y="4937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loops back: evaluation findings often send a model back through fine-tuning before it ships.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1 of 4 —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material: scale and quality of training data shapes what a model can learn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448056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aideck/icon_database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8745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880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13T+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used to pretrain GPT-4 — roughly equivalent to millions of books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188720" y="4572000"/>
            <a:ext cx="1828800" cy="0"/>
          </a:xfrm>
          <a:prstGeom prst="line">
            <a:avLst/>
          </a:prstGeom>
          <a:noFill/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47548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E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blend web text, licensed publisher content, code repositories, and images/audio for multimodal models.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60520" y="1508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Scale Is Growing Fast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60520" y="2011680"/>
            <a:ext cx="7498080" cy="859536"/>
          </a:xfrm>
          <a:prstGeom prst="roundRect">
            <a:avLst>
              <a:gd name="adj" fmla="val 6383"/>
            </a:avLst>
          </a:prstGeom>
          <a:solidFill>
            <a:srgbClr val="EEF3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43400" y="2011680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(2020)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66560" y="2011680"/>
            <a:ext cx="173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~300B tokens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95360" y="2011680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Crawl, books, Wikipedia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60520" y="3035808"/>
            <a:ext cx="74980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343400" y="3035808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 (2023)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66560" y="3035808"/>
            <a:ext cx="173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~2T tokens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595360" y="3035808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 data, curated mix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160520" y="4059936"/>
            <a:ext cx="7498080" cy="859536"/>
          </a:xfrm>
          <a:prstGeom prst="roundRect">
            <a:avLst>
              <a:gd name="adj" fmla="val 6383"/>
            </a:avLst>
          </a:prstGeom>
          <a:solidFill>
            <a:srgbClr val="EEF3FC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343400" y="4059936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(2023)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766560" y="4059936"/>
            <a:ext cx="173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~13T tokens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595360" y="4059936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code, multimodal fine-tune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160520" y="5084064"/>
            <a:ext cx="749808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343400" y="5084064"/>
            <a:ext cx="2331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/ 4 (2024-25)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66560" y="5084064"/>
            <a:ext cx="1737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15T-30T+ tokens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595360" y="5084064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web, code &amp; synthetic data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160520" y="61539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approximate, drawn from public model cards, technical reports, and independent analyses.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2 of 4 — Compute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compute is measured in FLOPs (floating-point operations) — and it is climbing roughly 4-5x per year</a:t>
            </a:r>
            <a:endParaRPr lang="en-US" sz="1300" dirty="0"/>
          </a:p>
        </p:txBody>
      </p:sp>
      <p:pic>
        <p:nvPicPr>
          <p:cNvPr id="4" name="Image 0" descr="/home/claude/aideck/icon_microchi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572768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trained on an estimated 25,000 NVIDIA A100 GPUs running for roughly 90-100 days straight.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331720"/>
          <a:ext cx="66751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7543800" y="16002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726680" y="16733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2.1×10²⁵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7726680" y="2221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to pretrain GPT-4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543800" y="28346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726680" y="29077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7726680" y="3456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 GPUs used in parallel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543800" y="40690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726680" y="41422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$63M+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7726680" y="46908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pretraining hardware cost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543800" y="53492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more compute generally yields better model capability, but returns diminish, and cost scales directly with GPU-hours purchased or rented.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3 of 4 — Energy &amp; Emissions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GPUs running for months consume power at data-center scale</a:t>
            </a:r>
            <a:endParaRPr lang="en-US" sz="1300" dirty="0"/>
          </a:p>
        </p:txBody>
      </p:sp>
      <p:pic>
        <p:nvPicPr>
          <p:cNvPr id="4" name="Image 0" descr="/home/claude/aideck/icon_bol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727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5087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discloses GPU-hours and emissions for every LLaMA release — among the most transparent figures public.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331720"/>
          <a:ext cx="54864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355080" y="160020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/home/claude/aideck/icon_leaf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783080"/>
            <a:ext cx="502920" cy="5029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23760" y="16733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552 t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7223760" y="213055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estimated for GPT-3 training (1.29 GWh)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6355080" y="315468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/home/claude/aideck/icon_leaf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337560"/>
            <a:ext cx="502920" cy="5029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23760" y="32278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539 t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7223760" y="368503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for LLaMA 2 — 100% offset by Meta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6355080" y="470916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/home/claude/aideck/icon_bol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892040"/>
            <a:ext cx="502920" cy="5029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23760" y="47823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GWh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7223760" y="52395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energy for LLaMA 3.1 training — about as much as 2,800 US homes use in a year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4 of 4 — Time &amp; Dollars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training time and dollar cost compound the same underlying compute bill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aideck/icon_clo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10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Time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pretraining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807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~90-100 days  —  on 25,000 A100 GPUs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 70B pretraining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584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~1.72M GPU-hrs  —  (wall time varies by cluster size)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4069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Maverick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436168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~2.38M H100 GPU-hrs  —  on clusters of 32,000 H100s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2960" y="49377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GPU fleets shorten wall-clock time but do not reduce total compute purchased — the GPU-hour (and dollar) bill is the same either way.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160020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aideck/icon_dollar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8288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1810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Cost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4652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(2020)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41832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$0.5M - $4.6M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46520" y="2926080"/>
            <a:ext cx="5029200" cy="0"/>
          </a:xfrm>
          <a:prstGeom prst="line">
            <a:avLst/>
          </a:prstGeom>
          <a:noFill/>
          <a:ln w="6350">
            <a:solidFill>
              <a:srgbClr val="4A55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446520" y="308152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(2023)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418320" y="3081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$78M - $100M+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446520" y="3493008"/>
            <a:ext cx="5029200" cy="0"/>
          </a:xfrm>
          <a:prstGeom prst="line">
            <a:avLst/>
          </a:prstGeom>
          <a:noFill/>
          <a:ln w="6350">
            <a:solidFill>
              <a:srgbClr val="4A55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446520" y="36484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Ultra (2023)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418320" y="364845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~$191M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46520" y="4059936"/>
            <a:ext cx="5029200" cy="0"/>
          </a:xfrm>
          <a:prstGeom prst="line">
            <a:avLst/>
          </a:prstGeom>
          <a:noFill/>
          <a:ln w="6350">
            <a:solidFill>
              <a:srgbClr val="4A55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446520" y="42153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 (2024)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9418320" y="421538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 millions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46520" y="4626864"/>
            <a:ext cx="5029200" cy="0"/>
          </a:xfrm>
          <a:prstGeom prst="line">
            <a:avLst/>
          </a:prstGeom>
          <a:noFill/>
          <a:ln w="6350">
            <a:solidFill>
              <a:srgbClr val="4A55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446520" y="491947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E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CEO Dario Amodei has said frontier training costs were nearing $1B in 2024 and could reach $5-10B by 2025-26.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Comparison: Four Models Side by Side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disclosures and independent estimates vary — figures below are best-available approximations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54680" y="1600200"/>
            <a:ext cx="233172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154680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0" y="1600200"/>
            <a:ext cx="187452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0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60920" y="1600200"/>
            <a:ext cx="233172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60920" y="16002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/ Emissions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92640" y="1600200"/>
            <a:ext cx="19659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9264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011680"/>
            <a:ext cx="260604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011680"/>
            <a:ext cx="24597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(2020)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54680" y="2011680"/>
            <a:ext cx="233172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27832" y="2011680"/>
            <a:ext cx="2185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~3.1×10²³ FLOPs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V100 GPUs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2011680"/>
            <a:ext cx="187452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59552" y="2011680"/>
            <a:ext cx="17282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$0.5M-$4.6M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2011680"/>
            <a:ext cx="233172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34072" y="2011680"/>
            <a:ext cx="2185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 GWh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 t CO₂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92640" y="2011680"/>
            <a:ext cx="196596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65792" y="2011680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~300B tokens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770632"/>
            <a:ext cx="260604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" y="2770632"/>
            <a:ext cx="24597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 70B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(2023)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54680" y="2770632"/>
            <a:ext cx="23317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27832" y="2770632"/>
            <a:ext cx="2185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~1.7M GPU-hrs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(A100)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2770632"/>
            <a:ext cx="1874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59552" y="2770632"/>
            <a:ext cx="17282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disclosed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60920" y="2770632"/>
            <a:ext cx="23317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34072" y="2770632"/>
            <a:ext cx="2185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539 t CO₂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(100% offset)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92640" y="2770632"/>
            <a:ext cx="196596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765792" y="2770632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~2T tokens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529584"/>
            <a:ext cx="260604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1792" y="3529584"/>
            <a:ext cx="24597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(2023)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154680" y="3529584"/>
            <a:ext cx="233172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27832" y="3529584"/>
            <a:ext cx="2185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~2.1×10²⁵ FLOPs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A100s, ~90-100 days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3529584"/>
            <a:ext cx="187452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59552" y="3529584"/>
            <a:ext cx="17282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$78M-$100M+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60920" y="3529584"/>
            <a:ext cx="233172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34072" y="3529584"/>
            <a:ext cx="2185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disclosed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92640" y="3529584"/>
            <a:ext cx="196596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765792" y="3529584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~13T tokens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288536"/>
            <a:ext cx="260604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1792" y="4288536"/>
            <a:ext cx="24597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(2024)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154680" y="4288536"/>
            <a:ext cx="23317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227832" y="4288536"/>
            <a:ext cx="2185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disclosed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86400" y="4288536"/>
            <a:ext cx="18745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559552" y="4288536"/>
            <a:ext cx="17282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($)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60920" y="4288536"/>
            <a:ext cx="233172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434072" y="4288536"/>
            <a:ext cx="2185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disclosed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692640" y="4288536"/>
            <a:ext cx="1965960" cy="7589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765792" y="4288536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disclosed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5047488"/>
            <a:ext cx="260604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1792" y="5047488"/>
            <a:ext cx="24597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Scout+Maverick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(2025)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154680" y="5047488"/>
            <a:ext cx="233172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227832" y="5047488"/>
            <a:ext cx="2185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7.38M GPU-hrs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(H100)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0" y="5047488"/>
            <a:ext cx="187452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559552" y="5047488"/>
            <a:ext cx="17282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disclosed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360920" y="5047488"/>
            <a:ext cx="233172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434072" y="5047488"/>
            <a:ext cx="21854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5.17 GWh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t CO₂*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692640" y="5047488"/>
            <a:ext cx="1965960" cy="758952"/>
          </a:xfrm>
          <a:prstGeom prst="rect">
            <a:avLst/>
          </a:prstGeom>
          <a:solidFill>
            <a:srgbClr val="EEF3FC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765792" y="5047488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~30T+ tokens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*Location-based estimate before Meta’s renewable-energy offsets; market-based net figure is reported as 0.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 Training Costs Are Climbing Fast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training compute cost by release — disclosure varies widely, but every recent estimate lands in the tens to hundreds of millions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0020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2A337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ideck/icon_chart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8288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Ahead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092440" y="2468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E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CEO Dario Amodei told journalists in 2024 that the cost of training a single frontier model was nearing $1 billion, and projected it could climb to $5-10 billion by 2025-2026.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092440" y="4434840"/>
            <a:ext cx="91440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092440" y="45720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frontier training is consolidating around a handful of well-capitalized labs and cloud partners able to absorb billion-dollar compute bills.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Each Resource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trades off against the others — and against how the model ultimately performs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85900" y="1965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aideck/icon_database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04" y="21122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33756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More, cleaner, more diverse data raises ceiling on capability and reduces hallucination — but licensing and filtering it is increasingly a bigger bottleneck than compute.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20540" y="1965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aideck/icon_microchip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844" y="21122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66160" y="333756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are the single strongest predictor of raw capability gains, but returns diminish — doubling compute rarely doubles performance.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6916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55180" y="1965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aideck/icon_bolt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1484" y="21122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333756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availability now constrains where labs can even build clusters; emissions reporting is becoming a competitive and regulatory issue.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52560" y="1691640"/>
            <a:ext cx="2606040" cy="429768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989820" y="19659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aideck/icon_clock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6124" y="211226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Cost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35440" y="333756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cost is the resource that ties the other three together — and it is rising faster than any single one of them.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35331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234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(2023). GPT-4 details reported via independent analyses (SemiAnalysis; patmcguinness.substack.com); Epoch AI, "Over 30 AI models trained at GPT-4 scale" (2025).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9280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Brown, T. et al. (2020). "Language Models are Few-Shot Learners" (GPT-3 paper); Deepgram, "AI Emits Carbon" (2023) for GPT-3 energy/emissions estimates.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67004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551176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Touvron, H. et al. (2023). "Llama 2: Open Foundation and Fine-Tuned Chat Models," Meta AI — Table 2, GPU hours &amp; carbon footprint.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32841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3209544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(2025). Llama 4 model card; arXiv "The Llama 4 Herd" preprint — reported GPU-hours and emissions for Scout/Maverick.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98678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867912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CudoCompute, "What is the Cost of Training Large Language Models?" (2026) — Gemini Ultra and GPT-4 cost estimates (Stanford AI Index-sourced).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64515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52628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TechCrunch (Feb 2025), "Anthropic’s latest flagship AI might not have been incredibly costly to train" — Dario Amodei on Claude 3.5 Sonnet and future cost projections.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530352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518464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E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HAI, AI Index Report (2025-2026 editions) — compute, cost, and adoption trend data.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1235</Words>
  <Application>Microsoft Office PowerPoint</Application>
  <PresentationFormat>Widescreen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Shelby Steward</cp:lastModifiedBy>
  <cp:revision>3</cp:revision>
  <dcterms:created xsi:type="dcterms:W3CDTF">2026-09-14T18:51:37Z</dcterms:created>
  <dcterms:modified xsi:type="dcterms:W3CDTF">2026-09-14T21:56:51Z</dcterms:modified>
</cp:coreProperties>
</file>