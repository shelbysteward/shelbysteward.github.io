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3442"/>
    <a:srgbClr val="268BBE"/>
    <a:srgbClr val="4D6570"/>
    <a:srgbClr val="F6B8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7948" y="-201168"/>
            <a:ext cx="12229948" cy="7063740"/>
          </a:xfrm>
          <a:prstGeom prst="rect">
            <a:avLst/>
          </a:prstGeom>
          <a:solidFill>
            <a:srgbClr val="14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00887" y="1143000"/>
            <a:ext cx="1078992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3400" b="1" dirty="0">
                <a:solidFill>
                  <a:srgbClr val="FFFFFF"/>
                </a:solidFill>
                <a:latin typeface="Aptos"/>
              </a:rPr>
              <a:t>Visualizing Neural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5247" y="1867161"/>
            <a:ext cx="9601200" cy="3693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800" b="0" dirty="0">
                <a:solidFill>
                  <a:srgbClr val="D8E7ED"/>
                </a:solidFill>
                <a:latin typeface="Aptos"/>
              </a:rPr>
              <a:t>Exploring architecture, noise, complexity, and performance with TensorFlow Playground</a:t>
            </a:r>
          </a:p>
        </p:txBody>
      </p:sp>
      <p:sp>
        <p:nvSpPr>
          <p:cNvPr id="5" name="Oval 4"/>
          <p:cNvSpPr/>
          <p:nvPr/>
        </p:nvSpPr>
        <p:spPr>
          <a:xfrm>
            <a:off x="1920240" y="3383280"/>
            <a:ext cx="228600" cy="228600"/>
          </a:xfrm>
          <a:prstGeom prst="ellipse">
            <a:avLst/>
          </a:prstGeom>
          <a:solidFill>
            <a:srgbClr val="268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920240" y="4206240"/>
            <a:ext cx="228600" cy="228600"/>
          </a:xfrm>
          <a:prstGeom prst="ellipse">
            <a:avLst/>
          </a:prstGeom>
          <a:solidFill>
            <a:srgbClr val="268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931920" y="3017520"/>
            <a:ext cx="228600" cy="228600"/>
          </a:xfrm>
          <a:prstGeom prst="ellipse">
            <a:avLst/>
          </a:prstGeom>
          <a:solidFill>
            <a:srgbClr val="F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931920" y="3657600"/>
            <a:ext cx="228600" cy="228600"/>
          </a:xfrm>
          <a:prstGeom prst="ellipse">
            <a:avLst/>
          </a:prstGeom>
          <a:solidFill>
            <a:srgbClr val="F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931920" y="4297680"/>
            <a:ext cx="228600" cy="228600"/>
          </a:xfrm>
          <a:prstGeom prst="ellipse">
            <a:avLst/>
          </a:prstGeom>
          <a:solidFill>
            <a:srgbClr val="F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931920" y="4937760"/>
            <a:ext cx="228600" cy="228600"/>
          </a:xfrm>
          <a:prstGeom prst="ellipse">
            <a:avLst/>
          </a:prstGeom>
          <a:solidFill>
            <a:srgbClr val="F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2926080"/>
            <a:ext cx="228600" cy="228600"/>
          </a:xfrm>
          <a:prstGeom prst="ellipse">
            <a:avLst/>
          </a:prstGeom>
          <a:solidFill>
            <a:srgbClr val="268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943600" y="3566160"/>
            <a:ext cx="228600" cy="228600"/>
          </a:xfrm>
          <a:prstGeom prst="ellipse">
            <a:avLst/>
          </a:prstGeom>
          <a:solidFill>
            <a:srgbClr val="268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943600" y="4206240"/>
            <a:ext cx="228600" cy="228600"/>
          </a:xfrm>
          <a:prstGeom prst="ellipse">
            <a:avLst/>
          </a:prstGeom>
          <a:solidFill>
            <a:srgbClr val="268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43600" y="4846320"/>
            <a:ext cx="228600" cy="228600"/>
          </a:xfrm>
          <a:prstGeom prst="ellipse">
            <a:avLst/>
          </a:prstGeom>
          <a:solidFill>
            <a:srgbClr val="268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955280" y="3200400"/>
            <a:ext cx="228600" cy="228600"/>
          </a:xfrm>
          <a:prstGeom prst="ellipse">
            <a:avLst/>
          </a:prstGeom>
          <a:solidFill>
            <a:srgbClr val="F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955280" y="3886200"/>
            <a:ext cx="228600" cy="228600"/>
          </a:xfrm>
          <a:prstGeom prst="ellipse">
            <a:avLst/>
          </a:prstGeom>
          <a:solidFill>
            <a:srgbClr val="F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955280" y="4572000"/>
            <a:ext cx="228600" cy="228600"/>
          </a:xfrm>
          <a:prstGeom prst="ellipse">
            <a:avLst/>
          </a:prstGeom>
          <a:solidFill>
            <a:srgbClr val="F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49840" y="3886200"/>
            <a:ext cx="228600" cy="228600"/>
          </a:xfrm>
          <a:prstGeom prst="ellipse">
            <a:avLst/>
          </a:prstGeom>
          <a:solidFill>
            <a:srgbClr val="268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 flipV="1">
            <a:off x="2148840" y="3131820"/>
            <a:ext cx="1783080" cy="36576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148840" y="3497580"/>
            <a:ext cx="1783080" cy="27432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8840" y="3497580"/>
            <a:ext cx="1783080" cy="91440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148840" y="3497580"/>
            <a:ext cx="1783080" cy="155448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148840" y="3131820"/>
            <a:ext cx="1783080" cy="118872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148840" y="3771900"/>
            <a:ext cx="1783080" cy="54864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148840" y="4320540"/>
            <a:ext cx="1783080" cy="9144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148840" y="4320540"/>
            <a:ext cx="1783080" cy="73152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160520" y="3040380"/>
            <a:ext cx="1783080" cy="9144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160520" y="3131820"/>
            <a:ext cx="1783080" cy="54864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160520" y="3131820"/>
            <a:ext cx="1783080" cy="118872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160520" y="3131820"/>
            <a:ext cx="1783080" cy="182880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160520" y="3040380"/>
            <a:ext cx="1783080" cy="73152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160520" y="3680460"/>
            <a:ext cx="1783080" cy="9144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160520" y="3771900"/>
            <a:ext cx="1783080" cy="54864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160520" y="3771900"/>
            <a:ext cx="1783080" cy="118872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160520" y="3040380"/>
            <a:ext cx="1783080" cy="137160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160520" y="3680460"/>
            <a:ext cx="1783080" cy="73152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160520" y="4320540"/>
            <a:ext cx="1783080" cy="9144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160520" y="4411980"/>
            <a:ext cx="1783080" cy="54864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160520" y="3040380"/>
            <a:ext cx="1783080" cy="201168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160520" y="3680460"/>
            <a:ext cx="1783080" cy="137160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160520" y="4320540"/>
            <a:ext cx="1783080" cy="73152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160520" y="4960620"/>
            <a:ext cx="1783080" cy="9144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172200" y="3040380"/>
            <a:ext cx="1783080" cy="27432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172200" y="3040380"/>
            <a:ext cx="1783080" cy="96012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172200" y="3040380"/>
            <a:ext cx="1783080" cy="164592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172200" y="3314700"/>
            <a:ext cx="1783080" cy="36576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172200" y="3680460"/>
            <a:ext cx="1783080" cy="32004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172200" y="3680460"/>
            <a:ext cx="1783080" cy="100584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172200" y="3314700"/>
            <a:ext cx="1783080" cy="100584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172200" y="4000500"/>
            <a:ext cx="1783080" cy="32004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172200" y="4320540"/>
            <a:ext cx="1783080" cy="36576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172200" y="3314700"/>
            <a:ext cx="1783080" cy="164592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172200" y="4000500"/>
            <a:ext cx="1783080" cy="96012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172200" y="4686300"/>
            <a:ext cx="1783080" cy="27432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183880" y="3314700"/>
            <a:ext cx="1965960" cy="68580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183880" y="4000500"/>
            <a:ext cx="1965960" cy="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183880" y="4000500"/>
            <a:ext cx="1965960" cy="685800"/>
          </a:xfrm>
          <a:prstGeom prst="line">
            <a:avLst/>
          </a:prstGeom>
          <a:ln w="8890">
            <a:solidFill>
              <a:srgbClr val="77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B1D3354-BB91-CEB3-704B-5270D3975291}"/>
              </a:ext>
            </a:extLst>
          </p:cNvPr>
          <p:cNvSpPr txBox="1"/>
          <p:nvPr/>
        </p:nvSpPr>
        <p:spPr>
          <a:xfrm>
            <a:off x="934059" y="5861804"/>
            <a:ext cx="10323576" cy="307777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lang="en-US" sz="1400" b="0" dirty="0">
                <a:solidFill>
                  <a:srgbClr val="D8E7ED"/>
                </a:solidFill>
                <a:latin typeface="Aptos"/>
              </a:rPr>
              <a:t>Shelby Steward – Indiana Wesleyan University – AIML 501: Model Development – Dr. Lawrence Iweriebor  </a:t>
            </a:r>
            <a:endParaRPr sz="1400" b="0" dirty="0">
              <a:solidFill>
                <a:srgbClr val="D8E7E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442"/>
                </a:solidFill>
                <a:latin typeface="Aptos Display"/>
              </a:rPr>
              <a:t>How a Neural Network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970"/>
                </a:solidFill>
                <a:latin typeface="Aptos"/>
              </a:rPr>
              <a:t>Information moves forward through connected layers, while training adjusts the connections.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5544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200" b="1">
                <a:solidFill>
                  <a:srgbClr val="143442"/>
                </a:solidFill>
                <a:latin typeface="Aptos"/>
              </a:rPr>
              <a:t>INPUT</a:t>
            </a:r>
          </a:p>
        </p:txBody>
      </p:sp>
      <p:sp>
        <p:nvSpPr>
          <p:cNvPr id="6" name="Oval 5"/>
          <p:cNvSpPr/>
          <p:nvPr/>
        </p:nvSpPr>
        <p:spPr>
          <a:xfrm>
            <a:off x="1600200" y="2240280"/>
            <a:ext cx="457200" cy="457200"/>
          </a:xfrm>
          <a:prstGeom prst="ellipse">
            <a:avLst/>
          </a:prstGeom>
          <a:solidFill>
            <a:srgbClr val="E2F1F8"/>
          </a:solidFill>
          <a:ln>
            <a:solidFill>
              <a:srgbClr val="268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00200" y="2340864"/>
            <a:ext cx="45720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000" b="1">
                <a:solidFill>
                  <a:srgbClr val="143442"/>
                </a:solidFill>
                <a:latin typeface="Aptos"/>
              </a:rPr>
              <a:t>X₁</a:t>
            </a:r>
          </a:p>
        </p:txBody>
      </p:sp>
      <p:sp>
        <p:nvSpPr>
          <p:cNvPr id="8" name="Oval 7"/>
          <p:cNvSpPr/>
          <p:nvPr/>
        </p:nvSpPr>
        <p:spPr>
          <a:xfrm>
            <a:off x="1600200" y="2926080"/>
            <a:ext cx="457200" cy="457200"/>
          </a:xfrm>
          <a:prstGeom prst="ellipse">
            <a:avLst/>
          </a:prstGeom>
          <a:solidFill>
            <a:srgbClr val="E2F1F8"/>
          </a:solidFill>
          <a:ln>
            <a:solidFill>
              <a:srgbClr val="268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00200" y="3026664"/>
            <a:ext cx="45720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000" b="1">
                <a:solidFill>
                  <a:srgbClr val="143442"/>
                </a:solidFill>
                <a:latin typeface="Aptos"/>
              </a:rPr>
              <a:t>X₂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600200"/>
            <a:ext cx="15544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200" b="1">
                <a:solidFill>
                  <a:srgbClr val="143442"/>
                </a:solidFill>
                <a:latin typeface="Aptos"/>
              </a:rPr>
              <a:t>HIDDEN LAYER 1</a:t>
            </a:r>
          </a:p>
        </p:txBody>
      </p:sp>
      <p:sp>
        <p:nvSpPr>
          <p:cNvPr id="11" name="Oval 10"/>
          <p:cNvSpPr/>
          <p:nvPr/>
        </p:nvSpPr>
        <p:spPr>
          <a:xfrm>
            <a:off x="4343400" y="2240280"/>
            <a:ext cx="457200" cy="457200"/>
          </a:xfrm>
          <a:prstGeom prst="ellipse">
            <a:avLst/>
          </a:prstGeom>
          <a:solidFill>
            <a:srgbClr val="FCEFDC"/>
          </a:solidFill>
          <a:ln>
            <a:solidFill>
              <a:srgbClr val="F2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343400" y="2926080"/>
            <a:ext cx="457200" cy="457200"/>
          </a:xfrm>
          <a:prstGeom prst="ellipse">
            <a:avLst/>
          </a:prstGeom>
          <a:solidFill>
            <a:srgbClr val="FCEFDC"/>
          </a:solidFill>
          <a:ln>
            <a:solidFill>
              <a:srgbClr val="F2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43400" y="3611880"/>
            <a:ext cx="457200" cy="457200"/>
          </a:xfrm>
          <a:prstGeom prst="ellipse">
            <a:avLst/>
          </a:prstGeom>
          <a:solidFill>
            <a:srgbClr val="FCEFDC"/>
          </a:solidFill>
          <a:ln>
            <a:solidFill>
              <a:srgbClr val="F2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43400" y="4297680"/>
            <a:ext cx="457200" cy="457200"/>
          </a:xfrm>
          <a:prstGeom prst="ellipse">
            <a:avLst/>
          </a:prstGeom>
          <a:solidFill>
            <a:srgbClr val="FCEFDC"/>
          </a:solidFill>
          <a:ln>
            <a:solidFill>
              <a:srgbClr val="F2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600200"/>
            <a:ext cx="15544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200" b="1">
                <a:solidFill>
                  <a:srgbClr val="143442"/>
                </a:solidFill>
                <a:latin typeface="Aptos"/>
              </a:rPr>
              <a:t>HIDDEN LAYER 2</a:t>
            </a:r>
          </a:p>
        </p:txBody>
      </p:sp>
      <p:sp>
        <p:nvSpPr>
          <p:cNvPr id="16" name="Oval 15"/>
          <p:cNvSpPr/>
          <p:nvPr/>
        </p:nvSpPr>
        <p:spPr>
          <a:xfrm>
            <a:off x="7178040" y="2240280"/>
            <a:ext cx="457200" cy="457200"/>
          </a:xfrm>
          <a:prstGeom prst="ellipse">
            <a:avLst/>
          </a:prstGeom>
          <a:solidFill>
            <a:srgbClr val="FCEFDC"/>
          </a:solidFill>
          <a:ln>
            <a:solidFill>
              <a:srgbClr val="F2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178040" y="2926080"/>
            <a:ext cx="457200" cy="457200"/>
          </a:xfrm>
          <a:prstGeom prst="ellipse">
            <a:avLst/>
          </a:prstGeom>
          <a:solidFill>
            <a:srgbClr val="FCEFDC"/>
          </a:solidFill>
          <a:ln>
            <a:solidFill>
              <a:srgbClr val="F2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178040" y="3611880"/>
            <a:ext cx="457200" cy="457200"/>
          </a:xfrm>
          <a:prstGeom prst="ellipse">
            <a:avLst/>
          </a:prstGeom>
          <a:solidFill>
            <a:srgbClr val="FCEFDC"/>
          </a:solidFill>
          <a:ln>
            <a:solidFill>
              <a:srgbClr val="F2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178040" y="4297680"/>
            <a:ext cx="457200" cy="457200"/>
          </a:xfrm>
          <a:prstGeom prst="ellipse">
            <a:avLst/>
          </a:prstGeom>
          <a:solidFill>
            <a:srgbClr val="FCEFDC"/>
          </a:solidFill>
          <a:ln>
            <a:solidFill>
              <a:srgbClr val="F2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29216" y="1600200"/>
            <a:ext cx="15544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200" b="1" dirty="0">
                <a:solidFill>
                  <a:srgbClr val="143442"/>
                </a:solidFill>
                <a:latin typeface="Aptos"/>
              </a:rPr>
              <a:t>OUTPUT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12680" y="3118104"/>
            <a:ext cx="1371600" cy="502920"/>
          </a:xfrm>
          <a:prstGeom prst="roundRect">
            <a:avLst/>
          </a:prstGeom>
          <a:solidFill>
            <a:srgbClr val="E2F1F8"/>
          </a:solidFill>
          <a:ln>
            <a:solidFill>
              <a:srgbClr val="268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76688" y="3264408"/>
            <a:ext cx="128016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200" b="1" dirty="0">
                <a:solidFill>
                  <a:srgbClr val="143442"/>
                </a:solidFill>
                <a:latin typeface="Aptos"/>
              </a:rPr>
              <a:t>Prediction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057400" y="2468880"/>
            <a:ext cx="2286000" cy="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057400" y="2468880"/>
            <a:ext cx="2286000" cy="68580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057400" y="2468880"/>
            <a:ext cx="2286000" cy="137160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057400" y="2468880"/>
            <a:ext cx="2286000" cy="205740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057400" y="2468880"/>
            <a:ext cx="2286000" cy="68580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057400" y="3154680"/>
            <a:ext cx="2286000" cy="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57400" y="3154680"/>
            <a:ext cx="2286000" cy="68580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57400" y="3154680"/>
            <a:ext cx="2286000" cy="137160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800600" y="2468880"/>
            <a:ext cx="2377440" cy="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800600" y="2468880"/>
            <a:ext cx="2377440" cy="68580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800600" y="2468880"/>
            <a:ext cx="2377440" cy="137160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800600" y="2468880"/>
            <a:ext cx="2377440" cy="205740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800600" y="2468880"/>
            <a:ext cx="2377440" cy="68580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800600" y="3154680"/>
            <a:ext cx="2377440" cy="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00600" y="3154680"/>
            <a:ext cx="2377440" cy="68580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800600" y="3154680"/>
            <a:ext cx="2377440" cy="137160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800600" y="2468880"/>
            <a:ext cx="2377440" cy="137160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800600" y="3154680"/>
            <a:ext cx="2377440" cy="68580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800600" y="3840480"/>
            <a:ext cx="2377440" cy="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800600" y="3840480"/>
            <a:ext cx="2377440" cy="68580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800600" y="2468880"/>
            <a:ext cx="2377440" cy="205740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800600" y="3154680"/>
            <a:ext cx="2377440" cy="137160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800600" y="3840480"/>
            <a:ext cx="2377440" cy="68580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800600" y="4526280"/>
            <a:ext cx="2377440" cy="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635240" y="2468880"/>
            <a:ext cx="2560320" cy="91440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635240" y="3154680"/>
            <a:ext cx="2560320" cy="22860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635240" y="3383280"/>
            <a:ext cx="2560320" cy="45720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635240" y="3383280"/>
            <a:ext cx="2560320" cy="1143000"/>
          </a:xfrm>
          <a:prstGeom prst="line">
            <a:avLst/>
          </a:prstGeom>
          <a:ln w="10160">
            <a:solidFill>
              <a:srgbClr val="A4B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731520" y="5257800"/>
            <a:ext cx="3429000" cy="868680"/>
          </a:xfrm>
          <a:prstGeom prst="roundRect">
            <a:avLst/>
          </a:prstGeom>
          <a:solidFill>
            <a:srgbClr val="F4F7F8"/>
          </a:solidFill>
          <a:ln>
            <a:solidFill>
              <a:srgbClr val="DE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31520" y="5257800"/>
            <a:ext cx="73152" cy="868680"/>
          </a:xfrm>
          <a:prstGeom prst="rect">
            <a:avLst/>
          </a:prstGeom>
          <a:solidFill>
            <a:srgbClr val="268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32688" y="5404104"/>
            <a:ext cx="306324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1">
                <a:solidFill>
                  <a:srgbClr val="143442"/>
                </a:solidFill>
                <a:latin typeface="Aptos"/>
              </a:rPr>
              <a:t>1  Inputs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" y="5788152"/>
            <a:ext cx="3063240" cy="21031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50" b="0">
                <a:solidFill>
                  <a:srgbClr val="242B30"/>
                </a:solidFill>
                <a:latin typeface="Aptos"/>
              </a:rPr>
              <a:t>Features such as X₁ and X₂ enter the network.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89120" y="5257800"/>
            <a:ext cx="3429000" cy="868680"/>
          </a:xfrm>
          <a:prstGeom prst="roundRect">
            <a:avLst/>
          </a:prstGeom>
          <a:solidFill>
            <a:srgbClr val="F4F7F8"/>
          </a:solidFill>
          <a:ln>
            <a:solidFill>
              <a:srgbClr val="DE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389120" y="5257800"/>
            <a:ext cx="73152" cy="868680"/>
          </a:xfrm>
          <a:prstGeom prst="rect">
            <a:avLst/>
          </a:prstGeom>
          <a:solidFill>
            <a:srgbClr val="F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590288" y="5404104"/>
            <a:ext cx="306324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1">
                <a:solidFill>
                  <a:srgbClr val="143442"/>
                </a:solidFill>
                <a:latin typeface="Aptos"/>
              </a:rPr>
              <a:t>2  Processing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64227" y="5733289"/>
            <a:ext cx="3063240" cy="21031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50" b="0" dirty="0">
                <a:solidFill>
                  <a:srgbClr val="242B30"/>
                </a:solidFill>
                <a:latin typeface="Aptos"/>
              </a:rPr>
              <a:t>Hidden neurons transform and combine information.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46720" y="5257800"/>
            <a:ext cx="3429000" cy="868680"/>
          </a:xfrm>
          <a:prstGeom prst="roundRect">
            <a:avLst/>
          </a:prstGeom>
          <a:solidFill>
            <a:srgbClr val="F4F7F8"/>
          </a:solidFill>
          <a:ln>
            <a:solidFill>
              <a:srgbClr val="DE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046720" y="5257800"/>
            <a:ext cx="73152" cy="868680"/>
          </a:xfrm>
          <a:prstGeom prst="rect">
            <a:avLst/>
          </a:prstGeom>
          <a:solidFill>
            <a:srgbClr val="268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47888" y="5404104"/>
            <a:ext cx="306324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1">
                <a:solidFill>
                  <a:srgbClr val="143442"/>
                </a:solidFill>
                <a:latin typeface="Aptos"/>
              </a:rPr>
              <a:t>3  Prediction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38744" y="5733288"/>
            <a:ext cx="3063240" cy="21031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50" b="0" dirty="0">
                <a:solidFill>
                  <a:srgbClr val="242B30"/>
                </a:solidFill>
                <a:latin typeface="Aptos"/>
              </a:rPr>
              <a:t>The output layer produces the final classification.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110996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97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2303" y="641806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43442"/>
                </a:solidFill>
                <a:latin typeface="Aptos Display"/>
              </a:rPr>
              <a:t>Layers and Neurons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2303" y="1152144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5C6970"/>
                </a:solidFill>
                <a:latin typeface="Aptos"/>
              </a:rPr>
              <a:t>The architecture determines how much representational capacity the model has.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12608" y="3450739"/>
            <a:ext cx="4029456" cy="1325880"/>
          </a:xfrm>
          <a:prstGeom prst="roundRect">
            <a:avLst/>
          </a:prstGeom>
          <a:solidFill>
            <a:srgbClr val="F4F7F8"/>
          </a:solidFill>
          <a:ln>
            <a:solidFill>
              <a:srgbClr val="DE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Rectangle 5"/>
          <p:cNvSpPr/>
          <p:nvPr/>
        </p:nvSpPr>
        <p:spPr>
          <a:xfrm>
            <a:off x="7912609" y="3450739"/>
            <a:ext cx="55104" cy="1325880"/>
          </a:xfrm>
          <a:prstGeom prst="rect">
            <a:avLst/>
          </a:prstGeom>
          <a:solidFill>
            <a:srgbClr val="268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TextBox 6"/>
          <p:cNvSpPr txBox="1"/>
          <p:nvPr/>
        </p:nvSpPr>
        <p:spPr>
          <a:xfrm>
            <a:off x="8113777" y="3597043"/>
            <a:ext cx="3753937" cy="27699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200" b="1">
                <a:solidFill>
                  <a:srgbClr val="143442"/>
                </a:solidFill>
                <a:latin typeface="Aptos"/>
              </a:rPr>
              <a:t>Layers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3777" y="3981090"/>
            <a:ext cx="3535679" cy="57708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50" b="0" dirty="0">
                <a:solidFill>
                  <a:srgbClr val="242B30"/>
                </a:solidFill>
                <a:latin typeface="Aptos"/>
              </a:rPr>
              <a:t>Stages of processing in a neural network. The input layer receives features, hidden layers learn intermediate patterns, and the output layer produces a prediction.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12608" y="1801368"/>
            <a:ext cx="4029456" cy="1325880"/>
          </a:xfrm>
          <a:prstGeom prst="roundRect">
            <a:avLst/>
          </a:prstGeom>
          <a:solidFill>
            <a:srgbClr val="F4F7F8"/>
          </a:solidFill>
          <a:ln>
            <a:solidFill>
              <a:srgbClr val="DE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" name="Rectangle 9"/>
          <p:cNvSpPr/>
          <p:nvPr/>
        </p:nvSpPr>
        <p:spPr>
          <a:xfrm>
            <a:off x="7912608" y="1801368"/>
            <a:ext cx="55104" cy="1325880"/>
          </a:xfrm>
          <a:prstGeom prst="rect">
            <a:avLst/>
          </a:prstGeom>
          <a:solidFill>
            <a:srgbClr val="F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TextBox 10"/>
          <p:cNvSpPr txBox="1"/>
          <p:nvPr/>
        </p:nvSpPr>
        <p:spPr>
          <a:xfrm>
            <a:off x="8113776" y="1947672"/>
            <a:ext cx="3753937" cy="27699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200" b="1">
                <a:solidFill>
                  <a:srgbClr val="143442"/>
                </a:solidFill>
                <a:latin typeface="Aptos"/>
              </a:rPr>
              <a:t>Neurons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3776" y="2331720"/>
            <a:ext cx="3625921" cy="57708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050" b="0">
                <a:solidFill>
                  <a:srgbClr val="242B30"/>
                </a:solidFill>
                <a:latin typeface="Aptos"/>
              </a:rPr>
              <a:t>Individual processing units within a layer. Each neuron combines incoming values, applies learned weights and a bias, then passes the result through an activation function.</a:t>
            </a:r>
          </a:p>
        </p:txBody>
      </p:sp>
      <p:pic>
        <p:nvPicPr>
          <p:cNvPr id="13" name="Picture 12" descr="b69439c5-b665-4ca1-926c-6368ff015853.png"/>
          <p:cNvPicPr>
            <a:picLocks noChangeAspect="1"/>
          </p:cNvPicPr>
          <p:nvPr/>
        </p:nvPicPr>
        <p:blipFill>
          <a:blip r:embed="rId2"/>
          <a:srcRect b="6421"/>
          <a:stretch>
            <a:fillRect/>
          </a:stretch>
        </p:blipFill>
        <p:spPr>
          <a:xfrm>
            <a:off x="452303" y="1769453"/>
            <a:ext cx="7223760" cy="3931496"/>
          </a:xfrm>
          <a:prstGeom prst="rect">
            <a:avLst/>
          </a:prstGeom>
          <a:ln w="76200">
            <a:solidFill>
              <a:srgbClr val="143442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7912608" y="5104575"/>
            <a:ext cx="4029456" cy="64633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200" b="0" dirty="0">
                <a:solidFill>
                  <a:schemeClr val="accent6"/>
                </a:solidFill>
                <a:latin typeface="Aptos"/>
              </a:rPr>
              <a:t>In the baseline model, the two hidden layers each contain four neurons. The boxes are neurons; their vertical groups are layers.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0996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97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2608" y="237744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43442"/>
                </a:solidFill>
                <a:latin typeface="Aptos Display"/>
              </a:rPr>
              <a:t>Weights and Activation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32905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5C6970"/>
                </a:solidFill>
                <a:latin typeface="Aptos"/>
              </a:rPr>
              <a:t>These components determine how strongly information is used and how complex patterns can be represented.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749040" cy="1225296"/>
          </a:xfrm>
          <a:prstGeom prst="roundRect">
            <a:avLst/>
          </a:prstGeom>
          <a:solidFill>
            <a:srgbClr val="F4F7F8"/>
          </a:solidFill>
          <a:ln>
            <a:solidFill>
              <a:srgbClr val="DE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52161" cy="1225296"/>
          </a:xfrm>
          <a:prstGeom prst="rect">
            <a:avLst/>
          </a:prstGeom>
          <a:solidFill>
            <a:srgbClr val="268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TextBox 6"/>
          <p:cNvSpPr txBox="1"/>
          <p:nvPr/>
        </p:nvSpPr>
        <p:spPr>
          <a:xfrm>
            <a:off x="886968" y="1472184"/>
            <a:ext cx="3488237" cy="27699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200" b="1">
                <a:solidFill>
                  <a:srgbClr val="143442"/>
                </a:solidFill>
                <a:latin typeface="Aptos"/>
              </a:rPr>
              <a:t>Weights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56231"/>
            <a:ext cx="3488237" cy="57708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50" b="0">
                <a:solidFill>
                  <a:srgbClr val="242B30"/>
                </a:solidFill>
                <a:latin typeface="Aptos"/>
              </a:rPr>
              <a:t>Numerical values attached to connections between neurons. During training, weights are adjusted so useful signals have more influence on the final prediction.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16352"/>
            <a:ext cx="3749040" cy="1225296"/>
          </a:xfrm>
          <a:prstGeom prst="roundRect">
            <a:avLst/>
          </a:prstGeom>
          <a:solidFill>
            <a:srgbClr val="F4F7F8"/>
          </a:solidFill>
          <a:ln>
            <a:solidFill>
              <a:srgbClr val="DE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" name="Rectangle 9"/>
          <p:cNvSpPr/>
          <p:nvPr/>
        </p:nvSpPr>
        <p:spPr>
          <a:xfrm>
            <a:off x="685800" y="2816352"/>
            <a:ext cx="52161" cy="1225296"/>
          </a:xfrm>
          <a:prstGeom prst="rect">
            <a:avLst/>
          </a:prstGeom>
          <a:solidFill>
            <a:srgbClr val="F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TextBox 10"/>
          <p:cNvSpPr txBox="1"/>
          <p:nvPr/>
        </p:nvSpPr>
        <p:spPr>
          <a:xfrm>
            <a:off x="886968" y="2962656"/>
            <a:ext cx="3488237" cy="27699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200" b="1">
                <a:solidFill>
                  <a:srgbClr val="143442"/>
                </a:solidFill>
                <a:latin typeface="Aptos"/>
              </a:rPr>
              <a:t>Activation Functions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346704"/>
            <a:ext cx="3488237" cy="57708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50" b="0">
                <a:solidFill>
                  <a:srgbClr val="242B30"/>
                </a:solidFill>
                <a:latin typeface="Aptos"/>
              </a:rPr>
              <a:t>Functions that transform a neuron's combined input. Nonlinear activations allow a network to learn patterns that cannot be represented by a simple straight-line boundary.</a:t>
            </a:r>
          </a:p>
        </p:txBody>
      </p:sp>
      <p:pic>
        <p:nvPicPr>
          <p:cNvPr id="13" name="Picture 12" descr="9be5af50-a369-4b5d-94e1-c64e8ee49fc4.png"/>
          <p:cNvPicPr>
            <a:picLocks noChangeAspect="1"/>
          </p:cNvPicPr>
          <p:nvPr/>
        </p:nvPicPr>
        <p:blipFill>
          <a:blip r:embed="rId2"/>
          <a:srcRect b="7083"/>
          <a:stretch>
            <a:fillRect/>
          </a:stretch>
        </p:blipFill>
        <p:spPr>
          <a:xfrm>
            <a:off x="4776216" y="1344168"/>
            <a:ext cx="6982968" cy="3734378"/>
          </a:xfrm>
          <a:prstGeom prst="rect">
            <a:avLst/>
          </a:prstGeom>
          <a:ln w="76200">
            <a:solidFill>
              <a:srgbClr val="143442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85800" y="4379029"/>
            <a:ext cx="374904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200" b="0" dirty="0">
                <a:solidFill>
                  <a:srgbClr val="268BBE"/>
                </a:solidFill>
                <a:latin typeface="Aptos"/>
              </a:rPr>
              <a:t>Playground uses line color and thickness to visualize learned weights. These experiments used the Tanh activation function.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0996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97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442"/>
                </a:solidFill>
                <a:latin typeface="Aptos Display"/>
              </a:rPr>
              <a:t>Loss Functions and Optimization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970"/>
                </a:solidFill>
                <a:latin typeface="Aptos"/>
              </a:rPr>
              <a:t>Training is an iterative process: measure error, adjust the model, and repeat.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331720" cy="1234440"/>
          </a:xfrm>
          <a:prstGeom prst="roundRect">
            <a:avLst/>
          </a:prstGeom>
          <a:solidFill>
            <a:srgbClr val="E2F1F8"/>
          </a:solidFill>
          <a:ln>
            <a:solidFill>
              <a:srgbClr val="268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05740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500" b="1">
                <a:solidFill>
                  <a:srgbClr val="143442"/>
                </a:solidFill>
                <a:latin typeface="Aptos"/>
              </a:rPr>
              <a:t>Predict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05740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050" b="0">
                <a:solidFill>
                  <a:srgbClr val="242B30"/>
                </a:solidFill>
                <a:latin typeface="Aptos"/>
              </a:rPr>
              <a:t>The network produces an output.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7248" y="1965960"/>
            <a:ext cx="32004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2000" b="1">
                <a:solidFill>
                  <a:srgbClr val="5C697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554480"/>
            <a:ext cx="2331720" cy="1234440"/>
          </a:xfrm>
          <a:prstGeom prst="roundRect">
            <a:avLst/>
          </a:prstGeom>
          <a:solidFill>
            <a:srgbClr val="FCEFDC"/>
          </a:solidFill>
          <a:ln>
            <a:solidFill>
              <a:srgbClr val="F2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599" y="1737360"/>
            <a:ext cx="205740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500" b="1">
                <a:solidFill>
                  <a:srgbClr val="143442"/>
                </a:solidFill>
                <a:latin typeface="Aptos"/>
              </a:rPr>
              <a:t>Measure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9" y="2103120"/>
            <a:ext cx="205740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050" b="0">
                <a:solidFill>
                  <a:srgbClr val="242B30"/>
                </a:solidFill>
                <a:latin typeface="Aptos"/>
              </a:rPr>
              <a:t>A loss function quantifies prediction error.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6168" y="1965960"/>
            <a:ext cx="32004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2000" b="1">
                <a:solidFill>
                  <a:srgbClr val="5C697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554480"/>
            <a:ext cx="2331720" cy="1234440"/>
          </a:xfrm>
          <a:prstGeom prst="roundRect">
            <a:avLst/>
          </a:prstGeom>
          <a:solidFill>
            <a:srgbClr val="E2F1F8"/>
          </a:solidFill>
          <a:ln>
            <a:solidFill>
              <a:srgbClr val="268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737360"/>
            <a:ext cx="205740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500" b="1">
                <a:solidFill>
                  <a:srgbClr val="143442"/>
                </a:solidFill>
                <a:latin typeface="Aptos"/>
              </a:rPr>
              <a:t>Optimize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03120"/>
            <a:ext cx="205740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050" b="0">
                <a:solidFill>
                  <a:srgbClr val="242B30"/>
                </a:solidFill>
                <a:latin typeface="Aptos"/>
              </a:rPr>
              <a:t>An optimization algorithm updates weights to reduce loss.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1965960"/>
            <a:ext cx="32004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2000" b="1">
                <a:solidFill>
                  <a:srgbClr val="5C697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554480"/>
            <a:ext cx="2331720" cy="1234440"/>
          </a:xfrm>
          <a:prstGeom prst="roundRect">
            <a:avLst/>
          </a:prstGeom>
          <a:solidFill>
            <a:srgbClr val="FCEFDC"/>
          </a:solidFill>
          <a:ln>
            <a:solidFill>
              <a:srgbClr val="F2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0" y="1737360"/>
            <a:ext cx="205740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500" b="1">
                <a:solidFill>
                  <a:srgbClr val="143442"/>
                </a:solidFill>
                <a:latin typeface="Aptos"/>
              </a:rPr>
              <a:t>Repeat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03120"/>
            <a:ext cx="205740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050" b="0">
                <a:solidFill>
                  <a:srgbClr val="242B30"/>
                </a:solidFill>
                <a:latin typeface="Aptos"/>
              </a:rPr>
              <a:t>Additional epochs continue refining the model.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46120"/>
            <a:ext cx="5303520" cy="1508760"/>
          </a:xfrm>
          <a:prstGeom prst="roundRect">
            <a:avLst/>
          </a:prstGeom>
          <a:solidFill>
            <a:srgbClr val="F4F7F8"/>
          </a:solidFill>
          <a:ln>
            <a:solidFill>
              <a:srgbClr val="DE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246120"/>
            <a:ext cx="73152" cy="1508760"/>
          </a:xfrm>
          <a:prstGeom prst="rect">
            <a:avLst/>
          </a:prstGeom>
          <a:solidFill>
            <a:srgbClr val="268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3392424"/>
            <a:ext cx="4937759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1">
                <a:solidFill>
                  <a:srgbClr val="143442"/>
                </a:solidFill>
                <a:latin typeface="Aptos"/>
              </a:rPr>
              <a:t>Loss Function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776472"/>
            <a:ext cx="4937759" cy="8503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50" b="0">
                <a:solidFill>
                  <a:srgbClr val="242B30"/>
                </a:solidFill>
                <a:latin typeface="Aptos"/>
              </a:rPr>
              <a:t>A mathematical measure of how far predictions are from the correct answers. Lower loss generally indicates better fit. Playground reports both training loss and test loss.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246120"/>
            <a:ext cx="5303520" cy="1508760"/>
          </a:xfrm>
          <a:prstGeom prst="roundRect">
            <a:avLst/>
          </a:prstGeom>
          <a:solidFill>
            <a:srgbClr val="F4F7F8"/>
          </a:solidFill>
          <a:ln>
            <a:solidFill>
              <a:srgbClr val="DE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3246120"/>
            <a:ext cx="73152" cy="1508760"/>
          </a:xfrm>
          <a:prstGeom prst="rect">
            <a:avLst/>
          </a:prstGeom>
          <a:solidFill>
            <a:srgbClr val="F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73368" y="3392424"/>
            <a:ext cx="4937759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1">
                <a:solidFill>
                  <a:srgbClr val="143442"/>
                </a:solidFill>
                <a:latin typeface="Aptos"/>
              </a:rPr>
              <a:t>Optimization Algorithm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3776472"/>
            <a:ext cx="4937759" cy="8503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50" b="0">
                <a:solidFill>
                  <a:srgbClr val="242B30"/>
                </a:solidFill>
                <a:latin typeface="Aptos"/>
              </a:rPr>
              <a:t>A procedure that uses the loss signal to update weights in a direction that improves performance. Repeated updates across epochs are what allow the network to learn.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166360"/>
            <a:ext cx="10607040" cy="594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200" b="0">
                <a:solidFill>
                  <a:srgbClr val="5C6970"/>
                </a:solidFill>
                <a:latin typeface="Aptos"/>
              </a:rPr>
              <a:t>Why both losses matter: training loss shows fit to examples the model learned from, while test loss helps indicate how well the model generalizes to unseen examples.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10996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97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6887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43442"/>
                </a:solidFill>
                <a:latin typeface="Aptos Display"/>
              </a:rPr>
              <a:t>Experiment: The Effect of 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82296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5C6970"/>
                </a:solidFill>
                <a:latin typeface="Aptos"/>
              </a:rPr>
              <a:t>Same architecture. Same settings. One variable changed: noise increased from 0 to 40.</a:t>
            </a:r>
          </a:p>
        </p:txBody>
      </p:sp>
      <p:pic>
        <p:nvPicPr>
          <p:cNvPr id="5" name="Picture 4" descr="b69439c5-b665-4ca1-926c-6368ff015853.png"/>
          <p:cNvPicPr>
            <a:picLocks noChangeAspect="1"/>
          </p:cNvPicPr>
          <p:nvPr/>
        </p:nvPicPr>
        <p:blipFill>
          <a:blip r:embed="rId2"/>
          <a:srcRect b="7376"/>
          <a:stretch>
            <a:fillRect/>
          </a:stretch>
        </p:blipFill>
        <p:spPr>
          <a:xfrm>
            <a:off x="246887" y="1366808"/>
            <a:ext cx="5695295" cy="3068032"/>
          </a:xfrm>
          <a:prstGeom prst="rect">
            <a:avLst/>
          </a:prstGeom>
          <a:ln w="76200">
            <a:solidFill>
              <a:srgbClr val="143442"/>
            </a:solidFill>
          </a:ln>
        </p:spPr>
      </p:pic>
      <p:pic>
        <p:nvPicPr>
          <p:cNvPr id="6" name="Picture 5" descr="f210a205-34de-4066-9ed1-0842fd1484c4.png"/>
          <p:cNvPicPr>
            <a:picLocks noChangeAspect="1"/>
          </p:cNvPicPr>
          <p:nvPr/>
        </p:nvPicPr>
        <p:blipFill>
          <a:blip r:embed="rId3"/>
          <a:srcRect t="681" b="6908"/>
          <a:stretch>
            <a:fillRect/>
          </a:stretch>
        </p:blipFill>
        <p:spPr>
          <a:xfrm>
            <a:off x="6004967" y="1366808"/>
            <a:ext cx="5945250" cy="3068032"/>
          </a:xfrm>
          <a:prstGeom prst="rect">
            <a:avLst/>
          </a:prstGeom>
          <a:ln w="76200">
            <a:solidFill>
              <a:srgbClr val="14344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4617720"/>
            <a:ext cx="512064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200" b="1">
                <a:solidFill>
                  <a:srgbClr val="143442"/>
                </a:solidFill>
                <a:latin typeface="Aptos"/>
              </a:rPr>
              <a:t>CLEAN DATA — Noise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4617720"/>
            <a:ext cx="512064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200" b="1">
                <a:solidFill>
                  <a:srgbClr val="143442"/>
                </a:solidFill>
                <a:latin typeface="Aptos"/>
              </a:rPr>
              <a:t>NOISY DATA — Noise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074920"/>
            <a:ext cx="2011680" cy="731520"/>
          </a:xfrm>
          <a:prstGeom prst="roundRect">
            <a:avLst/>
          </a:prstGeom>
          <a:solidFill>
            <a:srgbClr val="F4F7F8"/>
          </a:solidFill>
          <a:ln>
            <a:solidFill>
              <a:srgbClr val="E0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39" y="5166359"/>
            <a:ext cx="1737360" cy="238527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50" b="0" dirty="0">
                <a:solidFill>
                  <a:srgbClr val="5C6970"/>
                </a:solidFill>
                <a:latin typeface="Aptos"/>
              </a:rPr>
              <a:t>TEST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39" y="5385816"/>
            <a:ext cx="1737360" cy="3693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800" b="1">
                <a:solidFill>
                  <a:srgbClr val="39895F"/>
                </a:solidFill>
                <a:latin typeface="Aptos"/>
              </a:rPr>
              <a:t>0.001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5074920"/>
            <a:ext cx="2011680" cy="731520"/>
          </a:xfrm>
          <a:prstGeom prst="roundRect">
            <a:avLst/>
          </a:prstGeom>
          <a:solidFill>
            <a:srgbClr val="F4F7F8"/>
          </a:solidFill>
          <a:ln>
            <a:solidFill>
              <a:srgbClr val="E0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5166359"/>
            <a:ext cx="1737360" cy="238527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50" b="0">
                <a:solidFill>
                  <a:srgbClr val="5C6970"/>
                </a:solidFill>
                <a:latin typeface="Aptos"/>
              </a:rPr>
              <a:t>TRAINING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385816"/>
            <a:ext cx="1737360" cy="3693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800" b="1">
                <a:solidFill>
                  <a:srgbClr val="39895F"/>
                </a:solidFill>
                <a:latin typeface="Aptos"/>
              </a:rPr>
              <a:t>0.001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5074920"/>
            <a:ext cx="2011680" cy="731520"/>
          </a:xfrm>
          <a:prstGeom prst="roundRect">
            <a:avLst/>
          </a:prstGeom>
          <a:solidFill>
            <a:srgbClr val="F4F7F8"/>
          </a:solidFill>
          <a:ln>
            <a:solidFill>
              <a:srgbClr val="E0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5166359"/>
            <a:ext cx="1737360" cy="238527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50" b="0">
                <a:solidFill>
                  <a:srgbClr val="5C6970"/>
                </a:solidFill>
                <a:latin typeface="Aptos"/>
              </a:rPr>
              <a:t>TEST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5385816"/>
            <a:ext cx="1737360" cy="3693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800" b="1">
                <a:solidFill>
                  <a:srgbClr val="F29B37"/>
                </a:solidFill>
                <a:latin typeface="Aptos"/>
              </a:rPr>
              <a:t>0.225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5074920"/>
            <a:ext cx="2011680" cy="731520"/>
          </a:xfrm>
          <a:prstGeom prst="roundRect">
            <a:avLst/>
          </a:prstGeom>
          <a:solidFill>
            <a:srgbClr val="F4F7F8"/>
          </a:solidFill>
          <a:ln>
            <a:solidFill>
              <a:srgbClr val="E0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5166359"/>
            <a:ext cx="1737360" cy="238527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50" b="0">
                <a:solidFill>
                  <a:srgbClr val="5C6970"/>
                </a:solidFill>
                <a:latin typeface="Aptos"/>
              </a:rPr>
              <a:t>TRAINING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5385816"/>
            <a:ext cx="1737360" cy="3693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800" b="1">
                <a:solidFill>
                  <a:srgbClr val="F29B37"/>
                </a:solidFill>
                <a:latin typeface="Aptos"/>
              </a:rPr>
              <a:t>0.158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727" y="6035040"/>
            <a:ext cx="1069848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200" b="1">
                <a:solidFill>
                  <a:srgbClr val="242B30"/>
                </a:solidFill>
                <a:latin typeface="Aptos"/>
              </a:rPr>
              <a:t>Finding: overlapping, noisy observations made the classification boundary less certain and sharply increased loss.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10996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97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442"/>
                </a:solidFill>
                <a:latin typeface="Aptos Display"/>
              </a:rPr>
              <a:t>Experiment: Reducing Network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970"/>
                </a:solidFill>
                <a:latin typeface="Aptos"/>
              </a:rPr>
              <a:t>A smaller network struggled with the same clean circular dataset.</a:t>
            </a:r>
          </a:p>
        </p:txBody>
      </p:sp>
      <p:pic>
        <p:nvPicPr>
          <p:cNvPr id="5" name="Picture 4" descr="a37a332d-fccb-4aec-8d94-7baae7b8beda.png"/>
          <p:cNvPicPr>
            <a:picLocks noChangeAspect="1"/>
          </p:cNvPicPr>
          <p:nvPr/>
        </p:nvPicPr>
        <p:blipFill>
          <a:blip r:embed="rId2"/>
          <a:srcRect b="6615"/>
          <a:stretch>
            <a:fillRect/>
          </a:stretch>
        </p:blipFill>
        <p:spPr>
          <a:xfrm>
            <a:off x="685799" y="1626651"/>
            <a:ext cx="6583680" cy="3513256"/>
          </a:xfrm>
          <a:prstGeom prst="rect">
            <a:avLst/>
          </a:prstGeom>
          <a:ln w="76200">
            <a:solidFill>
              <a:srgbClr val="143442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7543800" y="1554480"/>
            <a:ext cx="3886200" cy="1143000"/>
          </a:xfrm>
          <a:prstGeom prst="roundRect">
            <a:avLst/>
          </a:prstGeom>
          <a:solidFill>
            <a:srgbClr val="F4F7F8"/>
          </a:solidFill>
          <a:ln>
            <a:solidFill>
              <a:srgbClr val="DE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543800" y="1554480"/>
            <a:ext cx="73152" cy="1143000"/>
          </a:xfrm>
          <a:prstGeom prst="rect">
            <a:avLst/>
          </a:prstGeom>
          <a:solidFill>
            <a:srgbClr val="F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44968" y="1700784"/>
            <a:ext cx="352044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1">
                <a:solidFill>
                  <a:srgbClr val="143442"/>
                </a:solidFill>
                <a:latin typeface="Aptos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2084832"/>
            <a:ext cx="3520440" cy="4846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50" b="0">
                <a:solidFill>
                  <a:srgbClr val="242B30"/>
                </a:solidFill>
                <a:latin typeface="Aptos"/>
              </a:rPr>
              <a:t>1 hidden layer × 2 neurons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926080"/>
            <a:ext cx="1783080" cy="731520"/>
          </a:xfrm>
          <a:prstGeom prst="roundRect">
            <a:avLst/>
          </a:prstGeom>
          <a:solidFill>
            <a:srgbClr val="F4F7F8"/>
          </a:solidFill>
          <a:ln>
            <a:solidFill>
              <a:srgbClr val="E0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0" y="3017520"/>
            <a:ext cx="1508760" cy="238527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50" b="0">
                <a:solidFill>
                  <a:srgbClr val="5C6970"/>
                </a:solidFill>
                <a:latin typeface="Aptos"/>
              </a:rPr>
              <a:t>TEST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236975"/>
            <a:ext cx="1508760" cy="3693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800" b="1">
                <a:solidFill>
                  <a:srgbClr val="F29B37"/>
                </a:solidFill>
                <a:latin typeface="Aptos"/>
              </a:rPr>
              <a:t>0.301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55480" y="2926080"/>
            <a:ext cx="1783080" cy="731520"/>
          </a:xfrm>
          <a:prstGeom prst="roundRect">
            <a:avLst/>
          </a:prstGeom>
          <a:solidFill>
            <a:srgbClr val="F4F7F8"/>
          </a:solidFill>
          <a:ln>
            <a:solidFill>
              <a:srgbClr val="E0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0" y="3017520"/>
            <a:ext cx="1508760" cy="238527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50" b="0">
                <a:solidFill>
                  <a:srgbClr val="5C6970"/>
                </a:solidFill>
                <a:latin typeface="Aptos"/>
              </a:rPr>
              <a:t>TRAINING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3236975"/>
            <a:ext cx="1508760" cy="3693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800" b="1">
                <a:solidFill>
                  <a:srgbClr val="F29B37"/>
                </a:solidFill>
                <a:latin typeface="Aptos"/>
              </a:rPr>
              <a:t>0.203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3931920"/>
            <a:ext cx="3886200" cy="1289304"/>
          </a:xfrm>
          <a:prstGeom prst="roundRect">
            <a:avLst/>
          </a:prstGeom>
          <a:solidFill>
            <a:srgbClr val="F4F7F8"/>
          </a:solidFill>
          <a:ln>
            <a:solidFill>
              <a:srgbClr val="DE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43800" y="3931920"/>
            <a:ext cx="73152" cy="1289304"/>
          </a:xfrm>
          <a:prstGeom prst="rect">
            <a:avLst/>
          </a:prstGeom>
          <a:solidFill>
            <a:srgbClr val="268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44968" y="4078224"/>
            <a:ext cx="352044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1">
                <a:solidFill>
                  <a:srgbClr val="143442"/>
                </a:solidFill>
                <a:latin typeface="Aptos"/>
              </a:rPr>
              <a:t>What changed?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8" y="4462272"/>
            <a:ext cx="3520440" cy="7589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50" b="0">
                <a:solidFill>
                  <a:srgbClr val="242B30"/>
                </a:solidFill>
                <a:latin typeface="Aptos"/>
              </a:rPr>
              <a:t>The model could no longer form the circular nonlinear boundary effectively. Fewer neurons and layers reduced its ability to represent the pattern.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32893"/>
            <a:ext cx="1060704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200" b="1" dirty="0">
                <a:solidFill>
                  <a:srgbClr val="143442"/>
                </a:solidFill>
                <a:latin typeface="Aptos"/>
              </a:rPr>
              <a:t>Baseline comparison: the larger 4 + 4 network reached 0.001 test loss on the same clean circle dataset.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0996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97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1480" y="285431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43442"/>
                </a:solidFill>
                <a:latin typeface="Aptos Display"/>
              </a:rPr>
              <a:t>Experiment: Learning a More Complex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60919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5C6970"/>
                </a:solidFill>
                <a:latin typeface="Aptos"/>
              </a:rPr>
              <a:t>Increasing depth and width dramatically improved performance on the spiral dataset.</a:t>
            </a:r>
          </a:p>
        </p:txBody>
      </p:sp>
      <p:pic>
        <p:nvPicPr>
          <p:cNvPr id="5" name="Picture 4" descr="772acc95-5ec3-489a-af6b-32aebe1c3ea1.png"/>
          <p:cNvPicPr>
            <a:picLocks noChangeAspect="1"/>
          </p:cNvPicPr>
          <p:nvPr/>
        </p:nvPicPr>
        <p:blipFill>
          <a:blip r:embed="rId2"/>
          <a:srcRect b="6612"/>
          <a:stretch>
            <a:fillRect/>
          </a:stretch>
        </p:blipFill>
        <p:spPr>
          <a:xfrm>
            <a:off x="502920" y="1282127"/>
            <a:ext cx="5440680" cy="2942402"/>
          </a:xfrm>
          <a:prstGeom prst="rect">
            <a:avLst/>
          </a:prstGeom>
          <a:ln w="76200">
            <a:solidFill>
              <a:srgbClr val="143442"/>
            </a:solidFill>
          </a:ln>
        </p:spPr>
      </p:pic>
      <p:pic>
        <p:nvPicPr>
          <p:cNvPr id="6" name="Picture 5" descr="9be5af50-a369-4b5d-94e1-c64e8ee49fc4.png"/>
          <p:cNvPicPr>
            <a:picLocks noChangeAspect="1"/>
          </p:cNvPicPr>
          <p:nvPr/>
        </p:nvPicPr>
        <p:blipFill>
          <a:blip r:embed="rId3"/>
          <a:srcRect b="6344"/>
          <a:stretch>
            <a:fillRect/>
          </a:stretch>
        </p:blipFill>
        <p:spPr>
          <a:xfrm>
            <a:off x="6263640" y="1291806"/>
            <a:ext cx="5440680" cy="2932722"/>
          </a:xfrm>
          <a:prstGeom prst="rect">
            <a:avLst/>
          </a:prstGeom>
          <a:ln w="76200">
            <a:solidFill>
              <a:srgbClr val="14344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4526280"/>
            <a:ext cx="521208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200" b="1">
                <a:solidFill>
                  <a:srgbClr val="143442"/>
                </a:solidFill>
                <a:latin typeface="Aptos"/>
              </a:rPr>
              <a:t>2 layers × 4 neurons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526280"/>
            <a:ext cx="521208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200" b="1">
                <a:solidFill>
                  <a:srgbClr val="143442"/>
                </a:solidFill>
                <a:latin typeface="Aptos"/>
              </a:rPr>
              <a:t>3 layers × 6 neurons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4983480"/>
            <a:ext cx="2057400" cy="731520"/>
          </a:xfrm>
          <a:prstGeom prst="roundRect">
            <a:avLst/>
          </a:prstGeom>
          <a:solidFill>
            <a:srgbClr val="F4F7F8"/>
          </a:solidFill>
          <a:ln>
            <a:solidFill>
              <a:srgbClr val="E0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5074920"/>
            <a:ext cx="1783080" cy="238527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50" b="0">
                <a:solidFill>
                  <a:srgbClr val="5C6970"/>
                </a:solidFill>
                <a:latin typeface="Aptos"/>
              </a:rPr>
              <a:t>TEST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294376"/>
            <a:ext cx="1783080" cy="3693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800" b="1">
                <a:solidFill>
                  <a:srgbClr val="F29B37"/>
                </a:solidFill>
                <a:latin typeface="Aptos"/>
              </a:rPr>
              <a:t>0.395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4983480"/>
            <a:ext cx="2057400" cy="731520"/>
          </a:xfrm>
          <a:prstGeom prst="roundRect">
            <a:avLst/>
          </a:prstGeom>
          <a:solidFill>
            <a:srgbClr val="F4F7F8"/>
          </a:solidFill>
          <a:ln>
            <a:solidFill>
              <a:srgbClr val="E0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79" y="5074920"/>
            <a:ext cx="1783080" cy="238527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50" b="0">
                <a:solidFill>
                  <a:srgbClr val="5C6970"/>
                </a:solidFill>
                <a:latin typeface="Aptos"/>
              </a:rPr>
              <a:t>TRAINING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5294376"/>
            <a:ext cx="1783080" cy="3693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800" b="1">
                <a:solidFill>
                  <a:srgbClr val="F29B37"/>
                </a:solidFill>
                <a:latin typeface="Aptos"/>
              </a:rPr>
              <a:t>0.269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4983480"/>
            <a:ext cx="2057400" cy="731520"/>
          </a:xfrm>
          <a:prstGeom prst="roundRect">
            <a:avLst/>
          </a:prstGeom>
          <a:solidFill>
            <a:srgbClr val="F4F7F8"/>
          </a:solidFill>
          <a:ln>
            <a:solidFill>
              <a:srgbClr val="E0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5074920"/>
            <a:ext cx="1783080" cy="238527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50" b="0">
                <a:solidFill>
                  <a:srgbClr val="5C6970"/>
                </a:solidFill>
                <a:latin typeface="Aptos"/>
              </a:rPr>
              <a:t>TEST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294376"/>
            <a:ext cx="1783080" cy="3693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800" b="1">
                <a:solidFill>
                  <a:srgbClr val="39895F"/>
                </a:solidFill>
                <a:latin typeface="Aptos"/>
              </a:rPr>
              <a:t>0.059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4983480"/>
            <a:ext cx="2057400" cy="731520"/>
          </a:xfrm>
          <a:prstGeom prst="roundRect">
            <a:avLst/>
          </a:prstGeom>
          <a:solidFill>
            <a:srgbClr val="F4F7F8"/>
          </a:solidFill>
          <a:ln>
            <a:solidFill>
              <a:srgbClr val="E0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5074920"/>
            <a:ext cx="1783080" cy="238527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50" b="0">
                <a:solidFill>
                  <a:srgbClr val="5C6970"/>
                </a:solidFill>
                <a:latin typeface="Aptos"/>
              </a:rPr>
              <a:t>TRAINING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5294376"/>
            <a:ext cx="1783080" cy="3693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800" b="1">
                <a:solidFill>
                  <a:srgbClr val="39895F"/>
                </a:solidFill>
                <a:latin typeface="Aptos"/>
              </a:rPr>
              <a:t>0.001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97880"/>
            <a:ext cx="1078992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200" b="1">
                <a:solidFill>
                  <a:srgbClr val="242B30"/>
                </a:solidFill>
                <a:latin typeface="Aptos"/>
              </a:rPr>
              <a:t>Finding: additional layers and neurons gave the model enough capacity to follow the intertwined nonlinear spiral much more closely.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10996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97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442"/>
                </a:solidFill>
                <a:latin typeface="Aptos Display"/>
              </a:rPr>
              <a:t>Summary and 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970"/>
                </a:solidFill>
                <a:latin typeface="Aptos"/>
              </a:rPr>
              <a:t>Visualizing the network made abstract concepts easier to connect to actual model behavior.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1371600"/>
          </a:xfrm>
          <a:prstGeom prst="roundRect">
            <a:avLst/>
          </a:prstGeom>
          <a:solidFill>
            <a:srgbClr val="F4F7F8"/>
          </a:solidFill>
          <a:ln>
            <a:solidFill>
              <a:srgbClr val="DE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73152" cy="1371600"/>
          </a:xfrm>
          <a:prstGeom prst="rect">
            <a:avLst/>
          </a:prstGeom>
          <a:solidFill>
            <a:srgbClr val="268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655064"/>
            <a:ext cx="306324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1">
                <a:solidFill>
                  <a:srgbClr val="143442"/>
                </a:solidFill>
                <a:latin typeface="Aptos"/>
              </a:rPr>
              <a:t>Data Quality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39111"/>
            <a:ext cx="3063240" cy="7132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50" b="0">
                <a:solidFill>
                  <a:srgbClr val="242B30"/>
                </a:solidFill>
                <a:latin typeface="Aptos"/>
              </a:rPr>
              <a:t>Increasing noise from 0 to 40 raised test loss from 0.001 to 0.225, showing how overlapping data makes classification harder.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29000" cy="1371600"/>
          </a:xfrm>
          <a:prstGeom prst="roundRect">
            <a:avLst/>
          </a:prstGeom>
          <a:solidFill>
            <a:srgbClr val="F4F7F8"/>
          </a:solidFill>
          <a:ln>
            <a:solidFill>
              <a:srgbClr val="DE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73152" cy="1371600"/>
          </a:xfrm>
          <a:prstGeom prst="rect">
            <a:avLst/>
          </a:prstGeom>
          <a:solidFill>
            <a:srgbClr val="F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655064"/>
            <a:ext cx="306324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1">
                <a:solidFill>
                  <a:srgbClr val="143442"/>
                </a:solidFill>
                <a:latin typeface="Aptos"/>
              </a:rPr>
              <a:t>Architecture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39111"/>
            <a:ext cx="3063240" cy="7132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50" b="0">
                <a:solidFill>
                  <a:srgbClr val="242B30"/>
                </a:solidFill>
                <a:latin typeface="Aptos"/>
              </a:rPr>
              <a:t>Reducing the network to one layer with two neurons raised test loss to 0.301, even on the clean circle dataset.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08760"/>
            <a:ext cx="3429000" cy="1371600"/>
          </a:xfrm>
          <a:prstGeom prst="roundRect">
            <a:avLst/>
          </a:prstGeom>
          <a:solidFill>
            <a:srgbClr val="F4F7F8"/>
          </a:solidFill>
          <a:ln>
            <a:solidFill>
              <a:srgbClr val="DE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508760"/>
            <a:ext cx="73152" cy="1371600"/>
          </a:xfrm>
          <a:prstGeom prst="rect">
            <a:avLst/>
          </a:prstGeom>
          <a:solidFill>
            <a:srgbClr val="398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655064"/>
            <a:ext cx="306324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1">
                <a:solidFill>
                  <a:srgbClr val="143442"/>
                </a:solidFill>
                <a:latin typeface="Aptos"/>
              </a:rPr>
              <a:t>Complexity Can Help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039111"/>
            <a:ext cx="3063240" cy="7132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50" b="0">
                <a:solidFill>
                  <a:srgbClr val="242B30"/>
                </a:solidFill>
                <a:latin typeface="Aptos"/>
              </a:rPr>
              <a:t>For the spiral dataset, increasing the network to 6 + 6 + 6 neurons reduced test loss from 0.395 to 0.059.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360420"/>
            <a:ext cx="1060704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900" b="1" dirty="0">
                <a:solidFill>
                  <a:srgbClr val="143442"/>
                </a:solidFill>
                <a:latin typeface="Aptos"/>
              </a:rPr>
              <a:t>Why visualization is valuable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" y="3863340"/>
            <a:ext cx="9509760" cy="1234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500" b="0" dirty="0">
                <a:solidFill>
                  <a:srgbClr val="242B30"/>
                </a:solidFill>
                <a:latin typeface="Aptos"/>
              </a:rPr>
              <a:t>The Playground made it possible to see how layers, neurons, weights, activation functions, loss, and optimization work together during training. Instead of viewing neural networks only as equations, I could observe how changing the data or architecture changed the decision boundary and model performance in real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166360"/>
            <a:ext cx="9692640" cy="685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400" b="1">
                <a:solidFill>
                  <a:srgbClr val="143442"/>
                </a:solidFill>
                <a:latin typeface="Aptos"/>
              </a:rPr>
              <a:t>Key takeaway: a successful neural network depends on both the quality and complexity of the data and on choosing an architecture with enough capacity to learn the underlying pattern.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0996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970"/>
                </a:solidFill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828</Words>
  <Application>Microsoft Office PowerPoint</Application>
  <PresentationFormat>Widescreen</PresentationFormat>
  <Paragraphs>106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Shelby Steward</dc:creator>
  <cp:keywords/>
  <dc:description>generated using python-pptx</dc:description>
  <cp:lastModifiedBy>Shelby Steward</cp:lastModifiedBy>
  <cp:revision>4</cp:revision>
  <dcterms:created xsi:type="dcterms:W3CDTF">2013-01-27T09:14:16Z</dcterms:created>
  <dcterms:modified xsi:type="dcterms:W3CDTF">2026-09-07T16:51:32Z</dcterms:modified>
  <cp:category/>
</cp:coreProperties>
</file>